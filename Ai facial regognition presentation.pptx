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38"/>
  </p:normalViewPr>
  <p:slideViewPr>
    <p:cSldViewPr snapToGrid="0">
      <p:cViewPr varScale="1">
        <p:scale>
          <a:sx n="96" d="100"/>
          <a:sy n="96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0A26-ADD1-E306-20E4-39FA94CAA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B2C47-3996-FFEB-3647-32B6D614F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13764-1842-A4C8-D3A8-9647CE4F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BBF8-F8B3-B38B-FA19-7A9DBB9F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B3ED0-2014-8C7D-B1D2-4694E626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2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B160-F1D0-EBCE-E75D-5A38EB9B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4022-4CFE-C07C-88A2-2D717B9B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A646-EAB8-BE10-3D08-05B7E5FA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DA4FB-7BCA-A584-632C-099DF132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4E206-6316-E29F-F61C-F8F59A3B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F7E4-1687-61DA-2724-9C9B11B8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5C4FD-4F9B-9A3A-728B-2FFBC203E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2F69-9E4C-3681-7912-FFB71697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6AC58-5B2C-4881-DEC0-37A27C9B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1897-2F5A-10CF-0CC1-BE57EEFA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0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070E-771C-0734-B532-4BC9B299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EAA8-4A83-05E3-429A-C493F79C1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D9FDD-76E1-5727-9C15-199C12D6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CFCE0-3BF7-D4C6-D765-F58C6622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06F4A-5E95-4EF2-E83F-9D47F07F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EB5E-D77C-BD0A-AC47-9EE1BE6A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3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FF21-7059-AA8D-1CFC-9637B921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56E0-09AC-D8CB-F95F-6159BF5C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81652-D44C-1DFC-DE5B-C8FEE0C7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96E46-9F87-A52D-99CC-3200EEAAA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9658F-0335-F668-3E1C-6438FF179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4DB5E-A4A7-03F3-EC0F-A9CFA814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2430B-74E4-91CE-24A1-73792EBB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267D4-B423-C6ED-728C-A50D1406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4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8B7C-FC29-C1E9-2546-B6DF97BD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740F0-D2CE-44BD-DF02-83F1D8AA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617F8-1B2F-22D6-9503-D968EBA4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53F55-9686-34B0-6887-4F309142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765C-5B66-DC57-F035-F6CB4953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F831C-C104-C13C-4858-E9063FB5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1E0CA-D9AC-F468-B87A-64547D2C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9F9A-6F83-6AC5-5ADE-D7843BF3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0F5BC-4BF3-DB54-6089-D34B98238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CC47-0051-FB50-3DE9-0729B9BA3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0DD13-B79C-3AA4-0EED-619A2083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B9FEE-EC31-F539-F232-5B8F12E4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C574-A2D7-21E3-1A83-45616770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0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2C10-F0B6-FAFA-E3CF-45BA6538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1AB46-FC06-726D-3CB4-B2BAD3271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7EFA0-811D-C10B-5481-45416861B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83CB1-75D6-C13D-22DC-D32F4838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370A6-74B6-8054-E4C2-61B981A7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574AD-3827-ED51-33E5-8345ED27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8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F062-3577-CC16-2AD3-21371ACE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20F2B-7694-9A3B-E56B-73AC67B1F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99B4-1D5B-32A1-830B-BEC3F284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8C4C-7080-8535-2839-5DA85573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C23E7-69AC-E86A-A6A8-A0F2C353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9A437-0D69-5CB4-5EDD-68850BD14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C72DF-E12A-AC3B-0B15-DAD79331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76133-4F51-8115-14C4-FBECD23E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21595-8B20-069D-8EBA-DA06DA6D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DAF6-2BDB-BE10-03C0-31C44287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1D794-6022-5E0D-1840-1CD427D5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73E5-48A8-3737-ECBB-2A51CF51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645EA-7D46-B7B3-77CB-0F0A608DC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D3029-3A79-3242-8F3B-1DD0CEDD719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450B2-2760-CFE8-9250-F3A87AB7A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0D569-B09F-B730-5CA0-4AAFC6A77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4 Investigates: Police use of AI facial recognition - KOB.com">
            <a:extLst>
              <a:ext uri="{FF2B5EF4-FFF2-40B4-BE49-F238E27FC236}">
                <a16:creationId xmlns:a16="http://schemas.microsoft.com/office/drawing/2014/main" id="{3EBC0265-07E6-354C-0502-773A1BFB3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0D4977-DEC5-EE44-5A90-064C37B9A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100" b="1" dirty="0">
                <a:solidFill>
                  <a:schemeClr val="bg1"/>
                </a:solidFill>
              </a:rPr>
              <a:t>Facial Recognition &amp; Biometrics</a:t>
            </a:r>
            <a:br>
              <a:rPr lang="en-US" sz="5100" dirty="0">
                <a:solidFill>
                  <a:schemeClr val="bg1"/>
                </a:solidFill>
              </a:rPr>
            </a:br>
            <a:r>
              <a:rPr lang="en-US" sz="5100" b="1" dirty="0">
                <a:solidFill>
                  <a:schemeClr val="bg1"/>
                </a:solidFill>
              </a:rPr>
              <a:t>Using AI for Identification, Safety, and Investigation</a:t>
            </a:r>
            <a:endParaRPr lang="en-US" sz="5100" dirty="0">
              <a:solidFill>
                <a:schemeClr val="bg1"/>
              </a:solidFill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5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Facial Recognition for Law Enforcement - 6 Current Applications">
            <a:extLst>
              <a:ext uri="{FF2B5EF4-FFF2-40B4-BE49-F238E27FC236}">
                <a16:creationId xmlns:a16="http://schemas.microsoft.com/office/drawing/2014/main" id="{122CB583-E5A6-5173-1117-E9A358F7F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B1E27-DEB5-9970-57B0-559C95CA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What is Facial Recognition?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B63A7-1843-9A61-5FB3-332F5137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600"/>
              <a:t>Facial recognition is an </a:t>
            </a:r>
            <a:r>
              <a:rPr lang="en-US" sz="1600" b="1"/>
              <a:t>AI/computer vision technique</a:t>
            </a:r>
            <a:r>
              <a:rPr lang="en-US" sz="1600"/>
              <a:t> that identifies or verifies a person using their </a:t>
            </a:r>
            <a:r>
              <a:rPr lang="en-US" sz="1600" b="1"/>
              <a:t>biometric facial features</a:t>
            </a:r>
            <a:r>
              <a:rPr lang="en-US" sz="1600"/>
              <a:t>.</a:t>
            </a:r>
          </a:p>
          <a:p>
            <a:r>
              <a:rPr lang="en-US" sz="1600" b="1"/>
              <a:t>How it works: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Detects a face in an image or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Extracts measurable </a:t>
            </a:r>
            <a:r>
              <a:rPr lang="en-US" sz="1600" b="1"/>
              <a:t>biometric features</a:t>
            </a:r>
            <a:r>
              <a:rPr lang="en-US" sz="1600"/>
              <a:t> (distances, shapes, embeddings)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Compares those features to a stored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Produces an identity or similarity score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6797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Know It All: AI, facial recognition, and police surveillance | 1A">
            <a:extLst>
              <a:ext uri="{FF2B5EF4-FFF2-40B4-BE49-F238E27FC236}">
                <a16:creationId xmlns:a16="http://schemas.microsoft.com/office/drawing/2014/main" id="{10470C3D-452D-CD90-61DB-C8076EE3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6" b="10485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EF6175-938F-E822-62C0-3DC3B67D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Different Approaches to 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5B67-8D1D-FF10-406B-739B409D3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Face Detection: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Classical models like Haar Cascades or HOG detect the face region.</a:t>
            </a:r>
          </a:p>
          <a:p>
            <a:r>
              <a:rPr lang="en-US" sz="2000" b="1">
                <a:solidFill>
                  <a:srgbClr val="FFFFFF"/>
                </a:solidFill>
              </a:rPr>
              <a:t>Feature Extraction: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Deep CNNs convert a face into a numerical vector (“embedding”).</a:t>
            </a:r>
          </a:p>
          <a:p>
            <a:r>
              <a:rPr lang="en-US" sz="2000" b="1">
                <a:solidFill>
                  <a:srgbClr val="FFFFFF"/>
                </a:solidFill>
              </a:rPr>
              <a:t>Classification:</a:t>
            </a:r>
            <a:endParaRPr lang="en-US" sz="200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k-Nearest Neighbors (kNN)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Support Vector Machines (SVM)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Softmax Neural Networks</a:t>
            </a:r>
          </a:p>
          <a:p>
            <a:r>
              <a:rPr lang="en-US" sz="2000" b="1">
                <a:solidFill>
                  <a:srgbClr val="FFFFFF"/>
                </a:solidFill>
              </a:rPr>
              <a:t>Verification: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Compares two faces to determine if they are the same person.</a:t>
            </a:r>
          </a:p>
          <a:p>
            <a:r>
              <a:rPr lang="en-US" sz="2000" b="1">
                <a:solidFill>
                  <a:srgbClr val="FFFFFF"/>
                </a:solidFill>
              </a:rPr>
              <a:t>Biometric Matching: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Analyzes facial distances, eye spacing, jaw shape, and learned deep-features.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5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C96F5-754E-43B3-37E3-30382389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Police Use Cases of 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4AC1-21BA-16E2-1938-8A4AE2FE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600"/>
              <a:t>Facial Recognition helps law enforcement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Locating suspects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Identifying missing persons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Human trafficking investigations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Finding kidnapping victims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Real-time watchlist alerts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Scene analysis from CCTV / body cam footage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Post-incident forensic search</a:t>
            </a:r>
            <a:endParaRPr lang="en-US" sz="1600"/>
          </a:p>
          <a:p>
            <a:r>
              <a:rPr lang="en-US" sz="1600"/>
              <a:t>AI biometrics allow officers to detect, track, and confirm subjects with enhanced reliability.</a:t>
            </a:r>
          </a:p>
          <a:p>
            <a:endParaRPr lang="en-US" sz="1600"/>
          </a:p>
        </p:txBody>
      </p:sp>
      <p:pic>
        <p:nvPicPr>
          <p:cNvPr id="4098" name="Picture 2" descr="Canada's Predictive Policing Tech Is Poorly Regulated Under AI Policy |  Truthout">
            <a:extLst>
              <a:ext uri="{FF2B5EF4-FFF2-40B4-BE49-F238E27FC236}">
                <a16:creationId xmlns:a16="http://schemas.microsoft.com/office/drawing/2014/main" id="{491C5740-113A-D8B8-8530-35992D6D2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4" r="15547" b="-1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64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Freeform: Shape 51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49407-34AE-080E-3AF7-0EC0854E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Security Applications of AI Facial Detection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2C54A-C902-16FF-AE48-0B02845A2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100" b="1"/>
              <a:t>How TSA &amp; Airports Use AI Face Detection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TSA Checkpoints</a:t>
            </a:r>
            <a:endParaRPr lang="en-US" sz="11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AI verifies traveler identity against government-issued 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Facial biometrics match the real-time face to ID photos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Reduces manual inspection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Speeds up security 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Used in </a:t>
            </a:r>
            <a:r>
              <a:rPr lang="en-US" sz="1100" b="1"/>
              <a:t>TSA Biometrics Technology Pilot</a:t>
            </a:r>
            <a:r>
              <a:rPr lang="en-US" sz="1100"/>
              <a:t> and </a:t>
            </a:r>
            <a:r>
              <a:rPr lang="en-US" sz="1100" b="1"/>
              <a:t>CAT-2 systems</a:t>
            </a:r>
            <a:endParaRPr lang="en-US" sz="1100"/>
          </a:p>
          <a:p>
            <a:r>
              <a:rPr lang="en-US" sz="1100" b="1"/>
              <a:t>Airports &amp; International Travel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Used at automated passport kiosks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Confirms identities for immigration &amp; customs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Detects forged or altered travel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Monitors restricted areas for unauthorized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Helps locate flagged individuals on watchlists</a:t>
            </a:r>
          </a:p>
          <a:p>
            <a:endParaRPr lang="en-US" sz="1100"/>
          </a:p>
        </p:txBody>
      </p:sp>
      <p:pic>
        <p:nvPicPr>
          <p:cNvPr id="5122" name="Picture 2" descr="TSA facial recognition: What happens to your data after screening?">
            <a:extLst>
              <a:ext uri="{FF2B5EF4-FFF2-40B4-BE49-F238E27FC236}">
                <a16:creationId xmlns:a16="http://schemas.microsoft.com/office/drawing/2014/main" id="{18073527-5A68-0B6C-EA40-89590D335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01" r="2052"/>
          <a:stretch>
            <a:fillRect/>
          </a:stretch>
        </p:blipFill>
        <p:spPr bwMode="auto">
          <a:xfrm>
            <a:off x="8109502" y="10"/>
            <a:ext cx="408249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84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92284-579F-8320-9A70-A6341A0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0528-558F-4FF0-2698-4CB4175B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600"/>
              <a:t>Our project uses </a:t>
            </a:r>
            <a:r>
              <a:rPr lang="en-US" sz="1600" b="1"/>
              <a:t>public facial datasets</a:t>
            </a:r>
            <a:r>
              <a:rPr lang="en-US" sz="1600"/>
              <a:t> that simulate real-world security environments:</a:t>
            </a:r>
          </a:p>
          <a:p>
            <a:r>
              <a:rPr lang="en-US" sz="1600" b="1"/>
              <a:t>LFW (Labeled Faces in the Wild)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Uncontrolled natural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Multiple identities, varying lighting &amp; backgrounds</a:t>
            </a:r>
          </a:p>
          <a:p>
            <a:r>
              <a:rPr lang="en-US" sz="1600" b="1"/>
              <a:t>SCFace-Style Surveillance Data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CCTV-like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Lower resolution, varying distances</a:t>
            </a:r>
          </a:p>
          <a:p>
            <a:r>
              <a:rPr lang="en-US" sz="1600" b="1"/>
              <a:t>VGGFace2-Style ID Photos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High-quality passport-like facial biometrics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Used to simulate TSA/airport identity checks</a:t>
            </a:r>
          </a:p>
          <a:p>
            <a:endParaRPr lang="en-US" sz="1600"/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5A0B8055-C260-B868-1D50-D3EA6377E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30" y="1347310"/>
            <a:ext cx="4372330" cy="32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7A769-49B0-4BA0-8ECB-CF7A7B88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Data Pre-Processing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CD2B-8C75-FED3-5F18-DA517883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700"/>
              <a:t>Steps Taken: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Loaded dataset samples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Converted each image to numerical arrays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Cropped + normalized facial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Flattened images into vectors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Applied </a:t>
            </a:r>
            <a:r>
              <a:rPr lang="en-US" sz="1700" b="1"/>
              <a:t>PCA (150 components)</a:t>
            </a:r>
            <a:r>
              <a:rPr lang="en-US" sz="1700"/>
              <a:t> for dimensionality reduction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Encoded identity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Split into </a:t>
            </a:r>
            <a:r>
              <a:rPr lang="en-US" sz="1700" b="1"/>
              <a:t>training</a:t>
            </a:r>
            <a:r>
              <a:rPr lang="en-US" sz="1700"/>
              <a:t> and </a:t>
            </a:r>
            <a:r>
              <a:rPr lang="en-US" sz="1700" b="1"/>
              <a:t>testing</a:t>
            </a:r>
            <a:r>
              <a:rPr lang="en-US" sz="1700"/>
              <a:t> sets (80/20)</a:t>
            </a:r>
          </a:p>
          <a:p>
            <a:r>
              <a:rPr lang="en-US" sz="1700"/>
              <a:t>Set input shape:</a:t>
            </a:r>
            <a:br>
              <a:rPr lang="en-US" sz="1700"/>
            </a:br>
            <a:r>
              <a:rPr lang="en-US" sz="1700"/>
              <a:t>(h, w) for grayscale, flattened to (h*w,) after processing.</a:t>
            </a:r>
          </a:p>
          <a:p>
            <a:endParaRPr lang="en-US" sz="1700"/>
          </a:p>
        </p:txBody>
      </p:sp>
      <p:pic>
        <p:nvPicPr>
          <p:cNvPr id="7" name="Picture 6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8867055F-85D0-D30C-93FB-60ABFA5B2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999" y="3844729"/>
            <a:ext cx="5018769" cy="1217051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E25DA84-A602-CB91-8895-C6499F0B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605" y="1916747"/>
            <a:ext cx="5381555" cy="104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4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192713-928B-BC43-0EF3-F038D444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678" y="1632000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Data Pre-Processing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4530D08-2248-DF45-E0FA-6EEBF95BF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3" y="3829293"/>
            <a:ext cx="10843065" cy="246679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2DA7-DFB6-823F-0289-64EFD564B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391" y="1384062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What is Biometric Embedding?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A mathematical representation of a face as a vector of numbers.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Our Steps: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Applied PCA to generate compact face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Reduced noise and emphasized important facial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Mapped identities → integer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Created binary “Watchlist vs Non-Watchlist” label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Prepared embeddings for training the classifier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54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D61A0-98CE-0135-86AD-45B79E2C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5B8E9-7E68-901A-ADC7-0D31E68B5DCF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The facial recognition system uses a </a:t>
            </a:r>
            <a:r>
              <a:rPr lang="en-US" sz="900" b="1"/>
              <a:t>two-stage AI pipeline</a:t>
            </a:r>
            <a:r>
              <a:rPr lang="en-US" sz="900"/>
              <a:t> to extract biometric features and classify identities for security applications such as police watchlists, TSA checkpoints, and access control.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Biometric Feature Extraction (PCA)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PCA reduces each face image to a compact biometric signature.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Removes noise and highlights key facial structures (eyes, jawline, cheekbones).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Produces numerical embeddings used for identity comparison.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Identity Classification (SVM)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Support Vector Machine (SVM) classifies facial embeddings into identities.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Chosen for high accuracy with facial data and strong separation between look-alike individuals.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Works efficiently on small-to-medium datasets and handles complex boundaries well.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Purpose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Simulates real-world security systems: police suspect detection, TSA ID verification, and secure access control.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Combining PCA + SVM creates a fast, accurate, and reliable facial recognition model suitable for biometric security tasks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/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EB6F98C3-9A51-62F8-B2D8-F4F339E8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606055"/>
            <a:ext cx="6440424" cy="35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C87BD791-4456-2DFE-C7F6-E0C5D93A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16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05417C-DDDC-F6C9-D5CA-F9049FDF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Model Training &amp;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B8AF4-4E3F-E3AD-CA0E-0046C3D3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Model Training &amp; Fitting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For training, our system uses PCA embeddings as inputs to an SVM classifier.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The model learns to distinguish between different identities and classify unknown faces.</a:t>
            </a:r>
          </a:p>
          <a:p>
            <a:r>
              <a:rPr lang="en-US" sz="1000" b="1">
                <a:solidFill>
                  <a:schemeClr val="bg1"/>
                </a:solidFill>
              </a:rPr>
              <a:t>Training Steps:</a:t>
            </a:r>
            <a:endParaRPr lang="en-US" sz="100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PCA embeddings passed into 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Balanced class weights prevent identity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Hyperparameters (C, gamma) tuned for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Output: trained identity recognizer + watchlist detector</a:t>
            </a:r>
          </a:p>
          <a:p>
            <a:pPr marL="0" indent="0">
              <a:buNone/>
            </a:pP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3"/>
            <a:ext cx="6858000" cy="403783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26611" y="3576013"/>
            <a:ext cx="2526132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3" y="1396067"/>
            <a:ext cx="6858000" cy="40378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8268" y="982780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0403D-312E-20B1-76BA-2FDBFDD6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456345"/>
            <a:ext cx="3111690" cy="35560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0DC1-D9FC-4CEB-C5E6-722690EC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8006" y="511389"/>
            <a:ext cx="3534770" cy="5848468"/>
          </a:xfrm>
        </p:spPr>
        <p:txBody>
          <a:bodyPr anchor="ctr">
            <a:normAutofit/>
          </a:bodyPr>
          <a:lstStyle/>
          <a:p>
            <a:r>
              <a:rPr lang="en-US" sz="1700" b="1"/>
              <a:t>Output</a:t>
            </a:r>
            <a:endParaRPr lang="en-US" sz="1700"/>
          </a:p>
          <a:p>
            <a:r>
              <a:rPr lang="en-US" sz="1700"/>
              <a:t>Our AI system generates: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Identity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Watchlist vs Non-Watchlist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Accuracy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Evaluation metrics (Precision, Recall, F1-score)</a:t>
            </a:r>
          </a:p>
          <a:p>
            <a:r>
              <a:rPr lang="en-US" sz="1700"/>
              <a:t>The system successfully recognized most identities and correctly detected watchlist individuals with high accuracy.</a:t>
            </a:r>
          </a:p>
          <a:p>
            <a:r>
              <a:rPr lang="en-US" sz="1700" b="1"/>
              <a:t>Example Outputs: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Identity Recognition Accuracy: </a:t>
            </a:r>
            <a:r>
              <a:rPr lang="en-US" sz="1700" b="1"/>
              <a:t>90–94%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Watchlist Accuracy: </a:t>
            </a:r>
            <a:r>
              <a:rPr lang="en-US" sz="1700" b="1"/>
              <a:t>92%</a:t>
            </a:r>
            <a:endParaRPr lang="en-US" sz="1700"/>
          </a:p>
          <a:p>
            <a:endParaRPr lang="en-US" sz="1700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1833C690-80F8-3330-FF18-177AECAA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174" y="2167736"/>
            <a:ext cx="4329826" cy="1039156"/>
          </a:xfrm>
          <a:prstGeom prst="rect">
            <a:avLst/>
          </a:prstGeom>
        </p:spPr>
      </p:pic>
      <p:pic>
        <p:nvPicPr>
          <p:cNvPr id="9" name="Picture 8" descr="A collage of several men&#10;&#10;Description automatically generated">
            <a:extLst>
              <a:ext uri="{FF2B5EF4-FFF2-40B4-BE49-F238E27FC236}">
                <a16:creationId xmlns:a16="http://schemas.microsoft.com/office/drawing/2014/main" id="{AE2B360A-1FCE-17CE-48E5-601ABC41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178" y="3861231"/>
            <a:ext cx="4116496" cy="1708344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B6BFF71-358C-88EE-0246-96F4D104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58" y="660473"/>
            <a:ext cx="4489085" cy="8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222C-5BA9-6FC9-90B7-F5979145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3B460-7949-053D-01EE-7A787ACDF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Issues Encountered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confused look-alike individuals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Variations in lighting &amp; angle reduced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Low-resolution (CCTV-like) images performed worse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Installing </a:t>
            </a:r>
            <a:r>
              <a:rPr lang="en-US" dirty="0" err="1"/>
              <a:t>face_recognition</a:t>
            </a:r>
            <a:r>
              <a:rPr lang="en-US" dirty="0"/>
              <a:t> and </a:t>
            </a:r>
            <a:r>
              <a:rPr lang="en-US" dirty="0" err="1"/>
              <a:t>dlib</a:t>
            </a:r>
            <a:r>
              <a:rPr lang="en-US" dirty="0"/>
              <a:t> on macOS generated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Unknown faces required distance-threshold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smaller than real security systems (TSA/Police databases are massive)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6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1357-8E84-99F7-6DFF-4829E298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AA26-ECD3-FCC7-A198-C21462D40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Possible Solutions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deeper models (</a:t>
            </a:r>
            <a:r>
              <a:rPr lang="en-US" dirty="0" err="1"/>
              <a:t>FaceNet</a:t>
            </a:r>
            <a:r>
              <a:rPr lang="en-US" dirty="0"/>
              <a:t>, </a:t>
            </a:r>
            <a:r>
              <a:rPr lang="en-US" dirty="0" err="1"/>
              <a:t>ArcFace</a:t>
            </a:r>
            <a:r>
              <a:rPr lang="en-US" dirty="0"/>
              <a:t>, </a:t>
            </a:r>
            <a:r>
              <a:rPr lang="en-US" dirty="0" err="1"/>
              <a:t>MobileFaceNet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more images per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lighting/pose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3D anti-spoofing (blink or depth detection)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CNN-based embeddings for stronger identity separation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dataset to better mimic TSA &amp; police databases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29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79D44-9F4A-D05A-1341-028881F3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Citation</a:t>
            </a:r>
          </a:p>
        </p:txBody>
      </p:sp>
      <p:pic>
        <p:nvPicPr>
          <p:cNvPr id="6146" name="Picture 2" descr="Status of State Laws on Facial ...">
            <a:extLst>
              <a:ext uri="{FF2B5EF4-FFF2-40B4-BE49-F238E27FC236}">
                <a16:creationId xmlns:a16="http://schemas.microsoft.com/office/drawing/2014/main" id="{2E471138-C1ED-C9A4-02F4-A868AADB6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9" r="20030" b="-1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3" name="Group 6152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6154" name="Freeform: Shape 615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155" name="Freeform: Shape 615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69A80-F5C8-D7A6-F800-A58ED188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Citations</a:t>
            </a:r>
            <a:endParaRPr lang="en-US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LFW – Labeled Faces in the Wild (UMass)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VGGFace2 Dataset – University of Oxford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SCFace Surveillance Dataset – University of Zagreb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PCA &amp; SVM Documentation – scikit-learn.org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615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158" name="Freeform: Shape 615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9" name="Freeform: Shape 615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0" name="Freeform: Shape 615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1" name="Freeform: Shape 616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2" name="Freeform: Shape 616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072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886</Words>
  <Application>Microsoft Macintosh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Facial Recognition &amp; Biometrics Using AI for Identification, Safety, and Investigation</vt:lpstr>
      <vt:lpstr>What is Facial Recognition?</vt:lpstr>
      <vt:lpstr>Different Approaches to Facial Recognition</vt:lpstr>
      <vt:lpstr>Police Use Cases of Facial Recognition</vt:lpstr>
      <vt:lpstr>Security Applications of AI Facial Detection</vt:lpstr>
      <vt:lpstr>Dataset</vt:lpstr>
      <vt:lpstr>Data Pre-Processing</vt:lpstr>
      <vt:lpstr>Data Pre-Processing</vt:lpstr>
      <vt:lpstr>The Model</vt:lpstr>
      <vt:lpstr>Model Training &amp; Fitting</vt:lpstr>
      <vt:lpstr>Output</vt:lpstr>
      <vt:lpstr>Issues Encountered</vt:lpstr>
      <vt:lpstr>Possible Solutions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 Ishibashiheron</dc:creator>
  <cp:lastModifiedBy>Ish Ishibashiheron</cp:lastModifiedBy>
  <cp:revision>2</cp:revision>
  <dcterms:created xsi:type="dcterms:W3CDTF">2025-11-29T17:39:04Z</dcterms:created>
  <dcterms:modified xsi:type="dcterms:W3CDTF">2025-11-30T19:42:01Z</dcterms:modified>
</cp:coreProperties>
</file>
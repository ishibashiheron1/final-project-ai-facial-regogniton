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461"/>
    <p:restoredTop sz="94703"/>
  </p:normalViewPr>
  <p:slideViewPr>
    <p:cSldViewPr snapToGrid="0">
      <p:cViewPr varScale="1">
        <p:scale>
          <a:sx n="90" d="100"/>
          <a:sy n="90" d="100"/>
        </p:scale>
        <p:origin x="232" y="10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A00A26-ADD1-E306-20E4-39FA94CAA5C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8B2C47-3996-FFEB-3647-32B6D614FB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213764-1842-A4C8-D3A8-9647CE4F3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55BBF8-F8B3-B38B-FA19-7A9DBB9F59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7B3ED0-2014-8C7D-B1D2-4694E62603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0325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8B160-F1D0-EBCE-E75D-5A38EB9B7E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F24022-4CFE-C07C-88A2-2D717B9B57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A9A646-EAB8-BE10-3D08-05B7E5FAD4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9DA4FB-7BCA-A584-632C-099DF1320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94E206-6316-E29F-F61C-F8F59A3B25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36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7F7E4-1687-61DA-2724-9C9B11B8BB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F5C4FD-4F9B-9A3A-728B-2FFBC203EB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F92F69-9E4C-3681-7912-FFB716973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F6AC58-5B2C-4881-DEC0-37A27C9B06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1897-2F5A-10CF-0CC1-BE57EEFA1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7005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F070E-771C-0734-B532-4BC9B29961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D2EAA8-4A83-05E3-429A-C493F79C10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BD9FDD-76E1-5727-9C15-199C12D6B0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ECFCE0-3BF7-D4C6-D765-F58C6622DA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106F4A-5E95-4EF2-E83F-9D47F07F56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13EB5E-D77C-BD0A-AC47-9EE1BE6AF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139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3FF21-7059-AA8D-1CFC-9637B9217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5356E0-09AC-D8CB-F95F-6159BF5CE1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881652-D44C-1DFC-DE5B-C8FEE0C776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D96E46-9F87-A52D-99CC-3200EEAAAE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09658F-0335-F668-3E1C-6438FF179B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DD4DB5E-A4A7-03F3-EC0F-A9CFA81403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6E2430B-74E4-91CE-24A1-73792EBB7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D0267D4-B423-C6ED-728C-A50D14067C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044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08B7C-FC29-C1E9-2546-B6DF97BD8E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C3740F0-D2CE-44BD-DF02-83F1D8AACF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F617F8-1B2F-22D6-9503-D968EBA45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153F55-9686-34B0-6887-4F3091425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618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676765C-5B66-DC57-F035-F6CB495369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7F831C-C104-C13C-4858-E9063FB5F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61E0CA-D9AC-F468-B87A-64547D2CF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3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219F9A-6F83-6AC5-5ADE-D7843BF37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D0F5BC-4BF3-DB54-6089-D34B98238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A1CC47-0051-FB50-3DE9-0729B9BA34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50DD13-B79C-3AA4-0EED-619A20833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21B9FEE-EC31-F539-F232-5B8F12E4C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BCC574-A2D7-21E3-1A83-456167707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9501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22C10-F0B6-FAFA-E3CF-45BA6538E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2D1AB46-FC06-726D-3CB4-B2BAD327122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7EFA0-811D-C10B-5481-45416861BC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183CB1-75D6-C13D-22DC-D32F48385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3370A6-74B6-8054-E4C2-61B981A77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5574AD-3827-ED51-33E5-8345ED277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34819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3F062-3577-CC16-2AD3-21371ACE2F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20F2B-7694-9A3B-E56B-73AC67B1F50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9A99B4-1D5B-32A1-830B-BEC3F284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398C4C-7080-8535-2839-5DA85573D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C23E7-69AC-E86A-A6A8-A0F2C353C5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11178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9A437-0D69-5CB4-5EDD-68850BD146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FC72DF-E12A-AC3B-0B15-DAD793311B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76133-4F51-8115-14C4-FBECD23E05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6521595-8B20-069D-8EBA-DA06DA6D6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ECDAF6-2BDB-BE10-03C0-31C4428712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02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F1D794-6022-5E0D-1840-1CD427D5D1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0B73E5-48A8-3737-ECBB-2A51CF51C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645EA-7D46-B7B3-77CB-0F0A608DCE2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9D3029-3A79-3242-8F3B-1DD0CEDD7195}" type="datetimeFigureOut">
              <a:rPr lang="en-US" smtClean="0"/>
              <a:t>11/30/25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4450B2-2760-CFE8-9250-F3A87AB7A8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B0D569-B09F-B730-5CA0-4AAFC6A778A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23DB36-C7B6-454C-91B6-BF731963FDC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542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657F69E0-C4B0-4BEC-A689-4F8D877F05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4 Investigates: Police use of AI facial recognition - KOB.com">
            <a:extLst>
              <a:ext uri="{FF2B5EF4-FFF2-40B4-BE49-F238E27FC236}">
                <a16:creationId xmlns:a16="http://schemas.microsoft.com/office/drawing/2014/main" id="{3EBC0265-07E6-354C-0502-773A1BFB30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"/>
          <a:stretch>
            <a:fillRect/>
          </a:stretch>
        </p:blipFill>
        <p:spPr bwMode="auto">
          <a:xfrm>
            <a:off x="20" y="10"/>
            <a:ext cx="12188930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20D4977-DEC5-EE44-5A90-064C37B9A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063240"/>
          </a:xfrm>
        </p:spPr>
        <p:txBody>
          <a:bodyPr>
            <a:normAutofit/>
          </a:bodyPr>
          <a:lstStyle/>
          <a:p>
            <a:r>
              <a:rPr lang="en-US" sz="5100" b="1" dirty="0">
                <a:solidFill>
                  <a:schemeClr val="bg1"/>
                </a:solidFill>
              </a:rPr>
              <a:t>Facial Recognition &amp; Biometrics</a:t>
            </a:r>
            <a:br>
              <a:rPr lang="en-US" sz="5100" dirty="0">
                <a:solidFill>
                  <a:schemeClr val="bg1"/>
                </a:solidFill>
              </a:rPr>
            </a:br>
            <a:r>
              <a:rPr lang="en-US" sz="5100" b="1" dirty="0">
                <a:solidFill>
                  <a:schemeClr val="bg1"/>
                </a:solidFill>
              </a:rPr>
              <a:t>Using AI for Identification, Safety, and Investigation</a:t>
            </a:r>
            <a:endParaRPr lang="en-US" sz="5100" dirty="0">
              <a:solidFill>
                <a:schemeClr val="bg1"/>
              </a:solidFill>
            </a:endParaRPr>
          </a:p>
        </p:txBody>
      </p:sp>
      <p:sp>
        <p:nvSpPr>
          <p:cNvPr id="1033" name="sketchy line">
            <a:extLst>
              <a:ext uri="{FF2B5EF4-FFF2-40B4-BE49-F238E27FC236}">
                <a16:creationId xmlns:a16="http://schemas.microsoft.com/office/drawing/2014/main" id="{9F6380B4-6A1C-481E-8408-B4E6C75B9B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368623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rgbClr val="FFFFFF">
              <a:alpha val="75000"/>
            </a:srgbClr>
          </a:solidFill>
          <a:ln w="44450" cap="rnd">
            <a:solidFill>
              <a:schemeClr val="bg1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015010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8589"/>
    </mc:Choice>
    <mc:Fallback>
      <p:transition spd="slow" advTm="8589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50" name="Picture 2" descr="Facial Recognition for Law Enforcement - 6 Current Applications">
            <a:extLst>
              <a:ext uri="{FF2B5EF4-FFF2-40B4-BE49-F238E27FC236}">
                <a16:creationId xmlns:a16="http://schemas.microsoft.com/office/drawing/2014/main" id="{122CB583-E5A6-5173-1117-E9A358F7FEE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501"/>
          <a:stretch>
            <a:fillRect/>
          </a:stretch>
        </p:blipFill>
        <p:spPr bwMode="auto">
          <a:xfrm>
            <a:off x="2522356" y="10"/>
            <a:ext cx="966964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57" name="Rectangle 2056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F8B1E27-DEB5-9970-57B0-559C95CAD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>
            <a:normAutofit/>
          </a:bodyPr>
          <a:lstStyle/>
          <a:p>
            <a:r>
              <a:rPr lang="en-US" sz="4000"/>
              <a:t>What is Facial Recognition?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B63A7-1843-9A61-5FB3-332F513786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434201"/>
            <a:ext cx="3822189" cy="3742762"/>
          </a:xfrm>
        </p:spPr>
        <p:txBody>
          <a:bodyPr>
            <a:normAutofit/>
          </a:bodyPr>
          <a:lstStyle/>
          <a:p>
            <a:r>
              <a:rPr lang="en-US" sz="1600"/>
              <a:t>Facial recognition is an </a:t>
            </a:r>
            <a:r>
              <a:rPr lang="en-US" sz="1600" b="1"/>
              <a:t>AI/computer vision technique</a:t>
            </a:r>
            <a:r>
              <a:rPr lang="en-US" sz="1600"/>
              <a:t> that identifies or verifies a person using their </a:t>
            </a:r>
            <a:r>
              <a:rPr lang="en-US" sz="1600" b="1"/>
              <a:t>biometric facial features</a:t>
            </a:r>
            <a:r>
              <a:rPr lang="en-US" sz="1600"/>
              <a:t>.</a:t>
            </a:r>
          </a:p>
          <a:p>
            <a:r>
              <a:rPr lang="en-US" sz="1600" b="1"/>
              <a:t>How it works: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Detects a face in an image or video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Extracts measurable </a:t>
            </a:r>
            <a:r>
              <a:rPr lang="en-US" sz="1600" b="1"/>
              <a:t>biometric features</a:t>
            </a:r>
            <a:r>
              <a:rPr lang="en-US" sz="1600"/>
              <a:t> (distances, shapes, embeddings)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Compares those features to a stored database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Produces an identity or similarity score</a:t>
            </a:r>
          </a:p>
          <a:p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356797550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 advTm="2905"/>
    </mc:Choice>
    <mc:Fallback>
      <p:transition spd="slow" advTm="2905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Rectangle 3087">
            <a:extLst>
              <a:ext uri="{FF2B5EF4-FFF2-40B4-BE49-F238E27FC236}">
                <a16:creationId xmlns:a16="http://schemas.microsoft.com/office/drawing/2014/main" id="{9228552E-C8B1-4A80-8448-0787CE0FC7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Know It All: AI, facial recognition, and police surveillance | 1A">
            <a:extLst>
              <a:ext uri="{FF2B5EF4-FFF2-40B4-BE49-F238E27FC236}">
                <a16:creationId xmlns:a16="http://schemas.microsoft.com/office/drawing/2014/main" id="{10470C3D-452D-CD90-61DB-C8076EE3C1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3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46" b="10485"/>
          <a:stretch>
            <a:fillRect/>
          </a:stretch>
        </p:blipFill>
        <p:spPr bwMode="auto">
          <a:xfrm>
            <a:off x="20" y="10"/>
            <a:ext cx="12191979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3EF6175-938F-E822-62C0-3DC3B67D1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Different Approaches to Facial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2B5B67-8D1D-FF10-406B-739B409D3C4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sz="2000" b="1">
                <a:solidFill>
                  <a:srgbClr val="FFFFFF"/>
                </a:solidFill>
              </a:rPr>
              <a:t>Face Detection: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Classical models like Haar Cascades or HOG detect the face region.</a:t>
            </a:r>
          </a:p>
          <a:p>
            <a:r>
              <a:rPr lang="en-US" sz="2000" b="1">
                <a:solidFill>
                  <a:srgbClr val="FFFFFF"/>
                </a:solidFill>
              </a:rPr>
              <a:t>Feature Extraction: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Deep CNNs convert a face into a numerical vector (“embedding”).</a:t>
            </a:r>
          </a:p>
          <a:p>
            <a:r>
              <a:rPr lang="en-US" sz="2000" b="1">
                <a:solidFill>
                  <a:srgbClr val="FFFFFF"/>
                </a:solidFill>
              </a:rPr>
              <a:t>Classification:</a:t>
            </a:r>
            <a:endParaRPr lang="en-US" sz="2000">
              <a:solidFill>
                <a:srgbClr val="FFFFFF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k-Nearest Neighbors (kNN)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Support Vector Machines (SVM)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solidFill>
                  <a:srgbClr val="FFFFFF"/>
                </a:solidFill>
              </a:rPr>
              <a:t>Softmax Neural Networks</a:t>
            </a:r>
          </a:p>
          <a:p>
            <a:r>
              <a:rPr lang="en-US" sz="2000" b="1">
                <a:solidFill>
                  <a:srgbClr val="FFFFFF"/>
                </a:solidFill>
              </a:rPr>
              <a:t>Verification: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Compares two faces to determine if they are the same person.</a:t>
            </a:r>
          </a:p>
          <a:p>
            <a:r>
              <a:rPr lang="en-US" sz="2000" b="1">
                <a:solidFill>
                  <a:srgbClr val="FFFFFF"/>
                </a:solidFill>
              </a:rPr>
              <a:t>Biometric Matching:</a:t>
            </a:r>
            <a:br>
              <a:rPr lang="en-US" sz="2000">
                <a:solidFill>
                  <a:srgbClr val="FFFFFF"/>
                </a:solidFill>
              </a:rPr>
            </a:br>
            <a:r>
              <a:rPr lang="en-US" sz="2000">
                <a:solidFill>
                  <a:srgbClr val="FFFFFF"/>
                </a:solidFill>
              </a:rPr>
              <a:t>Analyzes facial distances, eye spacing, jaw shape, and learned deep-features.</a:t>
            </a:r>
          </a:p>
          <a:p>
            <a:endParaRPr lang="en-US" sz="20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75853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>
    <mc:Choice xmlns:p14="http://schemas.microsoft.com/office/powerpoint/2010/main" Requires="p14">
      <p:transition spd="slow" p14:dur="2000" advTm="6853"/>
    </mc:Choice>
    <mc:Fallback>
      <p:transition spd="slow" advTm="6853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03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4105" name="Rectangle 4104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3DC96F5-754E-43B3-37E3-303823890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/>
              <a:t>Police Use Cases of Facial Recognition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A4AC1-21BA-16E2-1938-8A4AE2FE35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600"/>
              <a:t>Facial Recognition helps law enforcement with: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Locating suspects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Identifying missing persons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Human trafficking investigations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Finding kidnapping victims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Real-time watchlist alerts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Scene analysis from CCTV / body cam footage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/>
              <a:t>Post-incident forensic search</a:t>
            </a:r>
            <a:endParaRPr lang="en-US" sz="1600"/>
          </a:p>
          <a:p>
            <a:r>
              <a:rPr lang="en-US" sz="1600"/>
              <a:t>AI biometrics allow officers to detect, track, and confirm subjects with enhanced reliability.</a:t>
            </a:r>
          </a:p>
          <a:p>
            <a:endParaRPr lang="en-US" sz="1600"/>
          </a:p>
        </p:txBody>
      </p:sp>
      <p:pic>
        <p:nvPicPr>
          <p:cNvPr id="4098" name="Picture 2" descr="Canada's Predictive Policing Tech Is Poorly Regulated Under AI Policy |  Truthout">
            <a:extLst>
              <a:ext uri="{FF2B5EF4-FFF2-40B4-BE49-F238E27FC236}">
                <a16:creationId xmlns:a16="http://schemas.microsoft.com/office/drawing/2014/main" id="{491C5740-113A-D8B8-8530-35992D6D26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054" r="15547" b="-1"/>
          <a:stretch>
            <a:fillRect/>
          </a:stretch>
        </p:blipFill>
        <p:spPr bwMode="auto">
          <a:xfrm>
            <a:off x="6096000" y="1"/>
            <a:ext cx="61028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836462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27" name="Rectangle 5126">
            <a:extLst>
              <a:ext uri="{FF2B5EF4-FFF2-40B4-BE49-F238E27FC236}">
                <a16:creationId xmlns:a16="http://schemas.microsoft.com/office/drawing/2014/main" id="{2E17E911-875F-4DE5-8699-99D9F1805A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2192000" cy="685799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29" name="Rectangle 512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1" name="Rectangle 5130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33" name="Rectangle 5132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135" name="Freeform: Shape 5134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137" name="Rectangle 513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649407-34AE-080E-3AF7-0EC0854E6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Security Applications of AI Facial Detection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EC2C54A-C902-16FF-AE48-0B02845A28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sz="1100" b="1"/>
              <a:t>How TSA &amp; Airports Use AI Face Detection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 b="1"/>
              <a:t>TSA Checkpoints</a:t>
            </a:r>
            <a:endParaRPr lang="en-US" sz="110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AI verifies traveler identity against government-issued IDs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Facial biometrics match the real-time face to ID photos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Reduces manual inspection errors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Speeds up security lines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100"/>
              <a:t>Used in </a:t>
            </a:r>
            <a:r>
              <a:rPr lang="en-US" sz="1100" b="1"/>
              <a:t>TSA Biometrics Technology Pilot</a:t>
            </a:r>
            <a:r>
              <a:rPr lang="en-US" sz="1100"/>
              <a:t> and </a:t>
            </a:r>
            <a:r>
              <a:rPr lang="en-US" sz="1100" b="1"/>
              <a:t>CAT-2 systems</a:t>
            </a:r>
            <a:endParaRPr lang="en-US" sz="1100"/>
          </a:p>
          <a:p>
            <a:r>
              <a:rPr lang="en-US" sz="1100" b="1"/>
              <a:t>Airports &amp; International Travel</a:t>
            </a:r>
            <a:endParaRPr lang="en-US" sz="1100"/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Used at automated passport kiosks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Confirms identities for immigration &amp; customs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Detects forged or altered travel documents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Monitors restricted areas for unauthorized access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/>
              <a:t>Helps locate flagged individuals on watchlists</a:t>
            </a:r>
          </a:p>
          <a:p>
            <a:endParaRPr lang="en-US" sz="1100"/>
          </a:p>
        </p:txBody>
      </p:sp>
      <p:pic>
        <p:nvPicPr>
          <p:cNvPr id="5122" name="Picture 2" descr="TSA facial recognition: What happens to your data after screening?">
            <a:extLst>
              <a:ext uri="{FF2B5EF4-FFF2-40B4-BE49-F238E27FC236}">
                <a16:creationId xmlns:a16="http://schemas.microsoft.com/office/drawing/2014/main" id="{18073527-5A68-0B6C-EA40-89590D335D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301" r="2052"/>
          <a:stretch>
            <a:fillRect/>
          </a:stretch>
        </p:blipFill>
        <p:spPr bwMode="auto">
          <a:xfrm>
            <a:off x="8109502" y="10"/>
            <a:ext cx="4082498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40845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CD92284-579F-8320-9A70-A6341A03D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510528-558F-4FF0-2698-4CB4175B28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81727" y="649480"/>
            <a:ext cx="3025303" cy="5546047"/>
          </a:xfrm>
        </p:spPr>
        <p:txBody>
          <a:bodyPr anchor="ctr">
            <a:normAutofit/>
          </a:bodyPr>
          <a:lstStyle/>
          <a:p>
            <a:r>
              <a:rPr lang="en-US" sz="1600"/>
              <a:t>Our project uses </a:t>
            </a:r>
            <a:r>
              <a:rPr lang="en-US" sz="1600" b="1"/>
              <a:t>public facial datasets</a:t>
            </a:r>
            <a:r>
              <a:rPr lang="en-US" sz="1600"/>
              <a:t> that simulate real-world security environments:</a:t>
            </a:r>
          </a:p>
          <a:p>
            <a:r>
              <a:rPr lang="en-US" sz="1600" b="1"/>
              <a:t>LFW (Labeled Faces in the Wild)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Uncontrolled natural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Multiple identities, varying lighting &amp; backgrounds</a:t>
            </a:r>
          </a:p>
          <a:p>
            <a:r>
              <a:rPr lang="en-US" sz="1600" b="1"/>
              <a:t>SCFace-Style Surveillance Data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CCTV-like images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Lower resolution, varying distances</a:t>
            </a:r>
          </a:p>
          <a:p>
            <a:r>
              <a:rPr lang="en-US" sz="1600" b="1"/>
              <a:t>VGGFace2-Style ID Photos</a:t>
            </a:r>
            <a:endParaRPr lang="en-US" sz="1600"/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High-quality passport-like facial biometrics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/>
              <a:t>Used to simulate TSA/airport identity checks</a:t>
            </a:r>
          </a:p>
          <a:p>
            <a:endParaRPr lang="en-US" sz="1600"/>
          </a:p>
        </p:txBody>
      </p:sp>
      <p:pic>
        <p:nvPicPr>
          <p:cNvPr id="5" name="Picture 4" descr="A computer screen shot of a program&#10;&#10;Description automatically generated">
            <a:extLst>
              <a:ext uri="{FF2B5EF4-FFF2-40B4-BE49-F238E27FC236}">
                <a16:creationId xmlns:a16="http://schemas.microsoft.com/office/drawing/2014/main" id="{5A0B8055-C260-B868-1D50-D3EA6377E7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7030" y="1347310"/>
            <a:ext cx="4372330" cy="3235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77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3A7A769-49B0-4BA0-8ECB-CF7A7B888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Data Pre-Processing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C4CD2B-8C75-FED3-5F18-DA517883FF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>
            <a:normAutofit/>
          </a:bodyPr>
          <a:lstStyle/>
          <a:p>
            <a:r>
              <a:rPr lang="en-US" sz="1700"/>
              <a:t>Steps Taken: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Loaded dataset samples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Converted each image to numerical arrays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Cropped + normalized facial regions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Flattened images into vectors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Applied </a:t>
            </a:r>
            <a:r>
              <a:rPr lang="en-US" sz="1700" b="1"/>
              <a:t>PCA (150 components)</a:t>
            </a:r>
            <a:r>
              <a:rPr lang="en-US" sz="1700"/>
              <a:t> for dimensionality reduction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Encoded identity labels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Split into </a:t>
            </a:r>
            <a:r>
              <a:rPr lang="en-US" sz="1700" b="1"/>
              <a:t>training</a:t>
            </a:r>
            <a:r>
              <a:rPr lang="en-US" sz="1700"/>
              <a:t> and </a:t>
            </a:r>
            <a:r>
              <a:rPr lang="en-US" sz="1700" b="1"/>
              <a:t>testing</a:t>
            </a:r>
            <a:r>
              <a:rPr lang="en-US" sz="1700"/>
              <a:t> sets (80/20)</a:t>
            </a:r>
          </a:p>
          <a:p>
            <a:r>
              <a:rPr lang="en-US" sz="1700"/>
              <a:t>Set input shape:</a:t>
            </a:r>
            <a:br>
              <a:rPr lang="en-US" sz="1700"/>
            </a:br>
            <a:r>
              <a:rPr lang="en-US" sz="1700"/>
              <a:t>(h, w) for grayscale, flattened to (h*w,) after processing.</a:t>
            </a:r>
          </a:p>
          <a:p>
            <a:endParaRPr lang="en-US" sz="1700"/>
          </a:p>
        </p:txBody>
      </p:sp>
      <p:pic>
        <p:nvPicPr>
          <p:cNvPr id="7" name="Picture 6" descr="A computer screen with text and symbols&#10;&#10;Description automatically generated">
            <a:extLst>
              <a:ext uri="{FF2B5EF4-FFF2-40B4-BE49-F238E27FC236}">
                <a16:creationId xmlns:a16="http://schemas.microsoft.com/office/drawing/2014/main" id="{8867055F-85D0-D30C-93FB-60ABFA5B2B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40999" y="3844729"/>
            <a:ext cx="5018769" cy="1217051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0E25DA84-A602-CB91-8895-C6499F0BA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9605" y="1916747"/>
            <a:ext cx="5381555" cy="10494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0466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13B067F-3154-4968-A886-DF93A787E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583D6C-C05B-47AB-8540-B2700B82A4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6501AD91-D973-4968-95E4-4C26CFDF8F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5C165989-F5FE-4BB6-9817-E7828CB1D6E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0649CC-B912-4E82-BEA0-DA75ECB19A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6BA08C17-C9A5-4FA8-ABC4-44FB3B869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70DEAC6C-553C-437E-BC17-D4495233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2" name="Group 31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F192713-928B-BC43-0EF3-F038D444DB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0678" y="1632000"/>
            <a:ext cx="5071221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 dirty="0">
                <a:solidFill>
                  <a:schemeClr val="bg1"/>
                </a:solidFill>
              </a:rPr>
              <a:t>Data Pre-Processing</a:t>
            </a: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74530D08-2248-DF45-E0FA-6EEBF95BF3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6163" y="3829293"/>
            <a:ext cx="10843065" cy="2466798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1F4E1649-4D1F-4A91-AF97-A254BFDD52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FE483602-62F9-474D-9C9B-5EE4CD7671C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DD7D1AC0-A6C7-40E3-9841-F34AC831A4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F951C4DD-7427-497D-9DE3-9D731D3F45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0EE18298-0BF5-4D7A-921A-2F4186E8D9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Oval 43">
            <a:extLst>
              <a:ext uri="{FF2B5EF4-FFF2-40B4-BE49-F238E27FC236}">
                <a16:creationId xmlns:a16="http://schemas.microsoft.com/office/drawing/2014/main" id="{773AEA78-C03B-40B7-9D11-DC022119D5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600000">
            <a:off x="10150845" y="4270841"/>
            <a:ext cx="1897885" cy="1897885"/>
          </a:xfrm>
          <a:prstGeom prst="ellipse">
            <a:avLst/>
          </a:prstGeom>
          <a:gradFill>
            <a:gsLst>
              <a:gs pos="0">
                <a:schemeClr val="tx2">
                  <a:lumMod val="75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10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152DA7-DFB6-823F-0289-64EFD564B7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4391" y="1384062"/>
            <a:ext cx="5549111" cy="2129599"/>
          </a:xfrm>
          <a:noFill/>
        </p:spPr>
        <p:txBody>
          <a:bodyPr anchor="t">
            <a:normAutofit/>
          </a:bodyPr>
          <a:lstStyle/>
          <a:p>
            <a:r>
              <a:rPr lang="en-US" sz="1100" b="1" dirty="0">
                <a:solidFill>
                  <a:schemeClr val="bg1"/>
                </a:solidFill>
              </a:rPr>
              <a:t>What is Biometric Embedding?</a:t>
            </a:r>
            <a:br>
              <a:rPr lang="en-US" sz="1100" dirty="0">
                <a:solidFill>
                  <a:schemeClr val="bg1"/>
                </a:solidFill>
              </a:rPr>
            </a:br>
            <a:r>
              <a:rPr lang="en-US" sz="1100" dirty="0">
                <a:solidFill>
                  <a:schemeClr val="bg1"/>
                </a:solidFill>
              </a:rPr>
              <a:t>A mathematical representation of a face as a vector of numbers.</a:t>
            </a:r>
          </a:p>
          <a:p>
            <a:r>
              <a:rPr lang="en-US" sz="1100" b="1" dirty="0">
                <a:solidFill>
                  <a:schemeClr val="bg1"/>
                </a:solidFill>
              </a:rPr>
              <a:t>Our Steps:</a:t>
            </a:r>
            <a:endParaRPr lang="en-US" sz="1100" dirty="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Applied PCA to generate compact face embeddings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Reduced noise and emphasized important facial structure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Mapped identities → integer labels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Created binary “Watchlist vs Non-Watchlist” label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Prepared embeddings for training the classifier</a:t>
            </a:r>
          </a:p>
          <a:p>
            <a:endParaRPr lang="en-US" sz="11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45457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0B9EE3F3-89B7-43C3-8651-C4C968309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7D61A0-98CE-0135-86AD-45B79E2C73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1480" y="991443"/>
            <a:ext cx="4443154" cy="1087819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4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Model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33AE4636-AEEC-45D6-84D4-7AC2DA48EC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649223" y="38793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8D9CE0F4-2EB2-4F1F-8AAC-DB3571D9F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1480" y="2285541"/>
            <a:ext cx="43891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95B8E9-7E68-901A-ADC7-0D31E68B5DCF}"/>
              </a:ext>
            </a:extLst>
          </p:cNvPr>
          <p:cNvSpPr txBox="1"/>
          <p:nvPr/>
        </p:nvSpPr>
        <p:spPr>
          <a:xfrm>
            <a:off x="411480" y="2684095"/>
            <a:ext cx="4443154" cy="34928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The facial recognition system uses a </a:t>
            </a:r>
            <a:r>
              <a:rPr lang="en-US" sz="900" b="1"/>
              <a:t>two-stage AI pipeline</a:t>
            </a:r>
            <a:r>
              <a:rPr lang="en-US" sz="900"/>
              <a:t> to extract biometric features and classify identities for security applications such as police watchlists, TSA checkpoints, and access control.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/>
              <a:t>Biometric Feature Extraction (PCA)</a:t>
            </a:r>
            <a:endParaRPr lang="en-US" sz="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PCA reduces each face image to a compact biometric signature.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Removes noise and highlights key facial structures (eyes, jawline, cheekbones).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Produces numerical embeddings used for identity comparison.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/>
              <a:t>Identity Classification (SVM)</a:t>
            </a:r>
            <a:endParaRPr lang="en-US" sz="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Support Vector Machine (SVM) classifies facial embeddings into identities.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Chosen for high accuracy with facial data and strong separation between look-alike individuals.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Works efficiently on small-to-medium datasets and handles complex boundaries well.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 b="1"/>
              <a:t>Purpose</a:t>
            </a:r>
            <a:endParaRPr lang="en-US" sz="900"/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Simulates real-world security systems: police suspect detection, TSA ID verification, and secure access control.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sz="900"/>
              <a:t>Combining PCA + SVM creates a fast, accurate, and reliable facial recognition model suitable for biometric security tasks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900"/>
          </a:p>
        </p:txBody>
      </p:sp>
      <p:pic>
        <p:nvPicPr>
          <p:cNvPr id="13" name="Picture 12" descr="A computer screen shot of a program code&#10;&#10;Description automatically generated">
            <a:extLst>
              <a:ext uri="{FF2B5EF4-FFF2-40B4-BE49-F238E27FC236}">
                <a16:creationId xmlns:a16="http://schemas.microsoft.com/office/drawing/2014/main" id="{EB6F98C3-9A51-62F8-B2D8-F4F339E875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5816" y="1606055"/>
            <a:ext cx="6440424" cy="3590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66423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D7A453D2-15D8-4403-815F-291FA16340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161EA6B-09CA-445B-AB0D-8DF76FA92D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1EA1DAFF-CECA-492F-BFA1-22C64956B8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5D3D3744-142C-4653-90AB-546FE6B84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BC69CAC-820B-41BA-BFCA-79B45576837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D205E7A-88AB-4C4B-B8D1-5A76AA878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0D4286E9-8501-4EBF-874C-74897B4B6F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5586ADC-910E-45C9-BAB4-CB0EFBEE5B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AB594C5-5BB0-49AE-8AAC-AE40A6F8A3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B8114C98-A349-4111-A123-E8EAB86ABE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70FB431-AE18-414D-92F4-1D12D19911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24467063-D74E-4D42-8790-B9F6D69584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A1D19BAC-1681-47BC-AAF5-92FAFFF6F4C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94347C2B-E846-452C-97AA-7E254FC1CE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10EA2B35-7959-4C2A-84AA-FF5D94FEDE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C87BD791-4456-2DFE-C7F6-E0C5D93A5B5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" b="516"/>
          <a:stretch>
            <a:fillRect/>
          </a:stretch>
        </p:blipFill>
        <p:spPr>
          <a:xfrm>
            <a:off x="626590" y="317578"/>
            <a:ext cx="10851111" cy="3508437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AF19A774-30A5-488B-9BAF-629C644029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482489"/>
            <a:ext cx="304800" cy="429768"/>
            <a:chOff x="215328" y="-46937"/>
            <a:chExt cx="304800" cy="2773841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291EBF88-5B98-4258-A542-14C3AF2E5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8FBC2D58-9E3C-490D-BD7A-61EF07EA79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6CF1BB4-1C1D-4EDE-BA26-0243FCF83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00C83729-E02F-4512-AFE7-F4792228BD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E2D3D3F2-ABBB-4453-B1C5-1BEBF7E4DD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214E4A5-A0D2-42C4-8D14-D2A7E495F0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7494D7A0-6B21-41E8-A7D3-0033BBB791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1E141D7D-32B0-448E-A666-EA8703AFCF2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8D87E268-6345-420F-8B97-B37ED04100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35E1622E-7FA6-4760-A2BF-A8105EBF7B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8705417C-DDDC-F6C9-D5CA-F9049FDF71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4018137"/>
            <a:ext cx="4569060" cy="2129586"/>
          </a:xfrm>
          <a:noFill/>
        </p:spPr>
        <p:txBody>
          <a:bodyPr anchor="t">
            <a:normAutofit/>
          </a:bodyPr>
          <a:lstStyle/>
          <a:p>
            <a:r>
              <a:rPr lang="en-US" sz="4800">
                <a:solidFill>
                  <a:schemeClr val="bg1"/>
                </a:solidFill>
              </a:rPr>
              <a:t>Model Training &amp; Fitting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B8AF4-4E3F-E3AD-CA0E-0046C3D3EE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86080" y="4018143"/>
            <a:ext cx="5674105" cy="2129599"/>
          </a:xfrm>
          <a:noFill/>
        </p:spPr>
        <p:txBody>
          <a:bodyPr anchor="t">
            <a:normAutofit/>
          </a:bodyPr>
          <a:lstStyle/>
          <a:p>
            <a:r>
              <a:rPr lang="en-US" sz="1000" b="1">
                <a:solidFill>
                  <a:schemeClr val="bg1"/>
                </a:solidFill>
              </a:rPr>
              <a:t>Model Training &amp; Fitting</a:t>
            </a:r>
            <a:endParaRPr lang="en-US" sz="1000">
              <a:solidFill>
                <a:schemeClr val="bg1"/>
              </a:solidFill>
            </a:endParaRPr>
          </a:p>
          <a:p>
            <a:r>
              <a:rPr lang="en-US" sz="1000">
                <a:solidFill>
                  <a:schemeClr val="bg1"/>
                </a:solidFill>
              </a:rPr>
              <a:t>For training, our system uses PCA embeddings as inputs to an SVM classifier.</a:t>
            </a:r>
            <a:br>
              <a:rPr lang="en-US" sz="1000">
                <a:solidFill>
                  <a:schemeClr val="bg1"/>
                </a:solidFill>
              </a:rPr>
            </a:br>
            <a:r>
              <a:rPr lang="en-US" sz="1000">
                <a:solidFill>
                  <a:schemeClr val="bg1"/>
                </a:solidFill>
              </a:rPr>
              <a:t>The model learns to distinguish between different identities and classify unknown faces.</a:t>
            </a:r>
          </a:p>
          <a:p>
            <a:r>
              <a:rPr lang="en-US" sz="1000" b="1">
                <a:solidFill>
                  <a:schemeClr val="bg1"/>
                </a:solidFill>
              </a:rPr>
              <a:t>Training Steps:</a:t>
            </a:r>
            <a:endParaRPr lang="en-US" sz="1000">
              <a:solidFill>
                <a:schemeClr val="bg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PCA embeddings passed into SVM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Balanced class weights prevent identity bias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Hyperparameters (C, gamma) tuned for performance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000">
                <a:solidFill>
                  <a:schemeClr val="bg1"/>
                </a:solidFill>
              </a:rPr>
              <a:t>Output: trained identity recognizer + watchlist detector</a:t>
            </a:r>
          </a:p>
          <a:p>
            <a:pPr marL="0" indent="0">
              <a:buNone/>
            </a:pPr>
            <a:endParaRPr lang="en-US" sz="10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69990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D47F22ED-3A55-4EDE-A5A8-163D82B092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184EE59-3061-456B-9FB5-98A8E0E74B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7E07B5E-9FB5-4C91-8BE4-6167EB58D0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39326" y="1410083"/>
            <a:ext cx="6858000" cy="4037834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37524947-EB09-4DD9-973B-9F75BBCD7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26611" y="3576013"/>
            <a:ext cx="2526132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30C8E25-2DD1-45C6-9F04-0F0CBF6660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3" y="1396067"/>
            <a:ext cx="6858000" cy="4037833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BC57EA3C-C239-4132-A618-5CBE9F896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8268" y="982780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30403D-312E-20B1-76BA-2FDBFDD6F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6382" y="456345"/>
            <a:ext cx="3111690" cy="35560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5E0DC1-D9FC-4CEB-C5E6-722690EC91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88006" y="511389"/>
            <a:ext cx="3534770" cy="5848468"/>
          </a:xfrm>
        </p:spPr>
        <p:txBody>
          <a:bodyPr anchor="ctr">
            <a:normAutofit/>
          </a:bodyPr>
          <a:lstStyle/>
          <a:p>
            <a:r>
              <a:rPr lang="en-US" sz="1700" b="1"/>
              <a:t>Output</a:t>
            </a:r>
            <a:endParaRPr lang="en-US" sz="1700"/>
          </a:p>
          <a:p>
            <a:r>
              <a:rPr lang="en-US" sz="1700"/>
              <a:t>Our AI system generates: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Identity predictions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Watchlist vs Non-Watchlist labels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Accuracy score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Confusion matrix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Evaluation metrics (Precision, Recall, F1-score)</a:t>
            </a:r>
          </a:p>
          <a:p>
            <a:r>
              <a:rPr lang="en-US" sz="1700"/>
              <a:t>The system successfully recognized most identities and correctly detected watchlist individuals with high accuracy.</a:t>
            </a:r>
          </a:p>
          <a:p>
            <a:r>
              <a:rPr lang="en-US" sz="1700" b="1"/>
              <a:t>Example Outputs: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Identity Recognition Accuracy: </a:t>
            </a:r>
            <a:r>
              <a:rPr lang="en-US" sz="1700" b="1"/>
              <a:t>90–94%</a:t>
            </a:r>
            <a:endParaRPr lang="en-US" sz="1700"/>
          </a:p>
          <a:p>
            <a:pPr>
              <a:buFont typeface="Arial" panose="020B0604020202020204" pitchFamily="34" charset="0"/>
              <a:buChar char="•"/>
            </a:pPr>
            <a:r>
              <a:rPr lang="en-US" sz="1700"/>
              <a:t>Watchlist Accuracy: </a:t>
            </a:r>
            <a:r>
              <a:rPr lang="en-US" sz="1700" b="1"/>
              <a:t>92%</a:t>
            </a:r>
            <a:endParaRPr lang="en-US" sz="1700"/>
          </a:p>
          <a:p>
            <a:endParaRPr lang="en-US" sz="1700"/>
          </a:p>
        </p:txBody>
      </p:sp>
      <p:pic>
        <p:nvPicPr>
          <p:cNvPr id="7" name="Picture 6" descr="A screen shot of a computer&#10;&#10;Description automatically generated">
            <a:extLst>
              <a:ext uri="{FF2B5EF4-FFF2-40B4-BE49-F238E27FC236}">
                <a16:creationId xmlns:a16="http://schemas.microsoft.com/office/drawing/2014/main" id="{1833C690-80F8-3330-FF18-177AECAAE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2174" y="2167736"/>
            <a:ext cx="4329826" cy="1039156"/>
          </a:xfrm>
          <a:prstGeom prst="rect">
            <a:avLst/>
          </a:prstGeom>
        </p:spPr>
      </p:pic>
      <p:pic>
        <p:nvPicPr>
          <p:cNvPr id="9" name="Picture 8" descr="A collage of several men&#10;&#10;Description automatically generated">
            <a:extLst>
              <a:ext uri="{FF2B5EF4-FFF2-40B4-BE49-F238E27FC236}">
                <a16:creationId xmlns:a16="http://schemas.microsoft.com/office/drawing/2014/main" id="{AE2B360A-1FCE-17CE-48E5-601ABC41A4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2178" y="3861231"/>
            <a:ext cx="4116496" cy="1708344"/>
          </a:xfrm>
          <a:prstGeom prst="rect">
            <a:avLst/>
          </a:prstGeom>
        </p:spPr>
      </p:pic>
      <p:pic>
        <p:nvPicPr>
          <p:cNvPr id="5" name="Picture 4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BB6BFF71-358C-88EE-0246-96F4D10498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2158" y="660473"/>
            <a:ext cx="4489085" cy="852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3993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8222C-5BA9-6FC9-90B7-F59791455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Issues Encountered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3B460-7949-053D-01EE-7A787ACDF4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Issues Encountered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confused look-alike individuals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Variations in lighting &amp; angle reduced accuracy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Low-resolution (CCTV-like) images performed worse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Installing </a:t>
            </a:r>
            <a:r>
              <a:rPr lang="en-US" dirty="0" err="1"/>
              <a:t>face_recognition</a:t>
            </a:r>
            <a:r>
              <a:rPr lang="en-US" dirty="0"/>
              <a:t> and </a:t>
            </a:r>
            <a:r>
              <a:rPr lang="en-US" dirty="0" err="1"/>
              <a:t>dlib</a:t>
            </a:r>
            <a:r>
              <a:rPr lang="en-US" dirty="0"/>
              <a:t> on macOS generated errors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Unknown faces required distance-threshold tuning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Dataset smaller than real security systems (TSA/Police databases are massive)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2363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E21357-8E84-99F7-6DFF-4829E2988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Possible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EFAA26-ECD3-FCC7-A198-C21462D40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Possible Solutions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Use deeper models (</a:t>
            </a:r>
            <a:r>
              <a:rPr lang="en-US" dirty="0" err="1"/>
              <a:t>FaceNet</a:t>
            </a:r>
            <a:r>
              <a:rPr lang="en-US" dirty="0"/>
              <a:t>, </a:t>
            </a:r>
            <a:r>
              <a:rPr lang="en-US" dirty="0" err="1"/>
              <a:t>ArcFace</a:t>
            </a:r>
            <a:r>
              <a:rPr lang="en-US" dirty="0"/>
              <a:t>, </a:t>
            </a:r>
            <a:r>
              <a:rPr lang="en-US" dirty="0" err="1"/>
              <a:t>MobileFaceNet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more images per identity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Improve lighting/pose normalization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Add 3D anti-spoofing (blink or depth detection)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Integrate CNN-based embeddings for stronger identity separation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Expand dataset to better mimic TSA &amp; police databases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729244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167" name="Rectangle 6166">
            <a:extLst>
              <a:ext uri="{FF2B5EF4-FFF2-40B4-BE49-F238E27FC236}">
                <a16:creationId xmlns:a16="http://schemas.microsoft.com/office/drawing/2014/main" id="{637B2035-1FCB-439A-B421-095E136C7E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69" name="Rectangle 6168">
            <a:extLst>
              <a:ext uri="{FF2B5EF4-FFF2-40B4-BE49-F238E27FC236}">
                <a16:creationId xmlns:a16="http://schemas.microsoft.com/office/drawing/2014/main" id="{676D6CDF-C512-4739-B158-55EE955EFA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503" y="-1"/>
            <a:ext cx="12192000" cy="6857999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7979D44-9F4A-D05A-1341-028881F33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7033" y="670559"/>
            <a:ext cx="4683321" cy="2148841"/>
          </a:xfrm>
        </p:spPr>
        <p:txBody>
          <a:bodyPr anchor="t">
            <a:normAutofit/>
          </a:bodyPr>
          <a:lstStyle/>
          <a:p>
            <a:r>
              <a:rPr lang="en-US"/>
              <a:t>Citation</a:t>
            </a:r>
          </a:p>
        </p:txBody>
      </p:sp>
      <p:pic>
        <p:nvPicPr>
          <p:cNvPr id="6146" name="Picture 2" descr="Status of State Laws on Facial ...">
            <a:extLst>
              <a:ext uri="{FF2B5EF4-FFF2-40B4-BE49-F238E27FC236}">
                <a16:creationId xmlns:a16="http://schemas.microsoft.com/office/drawing/2014/main" id="{2E471138-C1ED-C9A4-02F4-A868AADB64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77" r="-2" b="-2"/>
          <a:stretch>
            <a:fillRect/>
          </a:stretch>
        </p:blipFill>
        <p:spPr bwMode="auto">
          <a:xfrm>
            <a:off x="1" y="3105151"/>
            <a:ext cx="6448424" cy="3752849"/>
          </a:xfrm>
          <a:custGeom>
            <a:avLst/>
            <a:gdLst/>
            <a:ahLst/>
            <a:cxnLst/>
            <a:rect l="l" t="t" r="r" b="b"/>
            <a:pathLst>
              <a:path w="6448424" h="3752849">
                <a:moveTo>
                  <a:pt x="0" y="0"/>
                </a:moveTo>
                <a:lnTo>
                  <a:pt x="137978" y="22215"/>
                </a:lnTo>
                <a:cubicBezTo>
                  <a:pt x="196046" y="32277"/>
                  <a:pt x="252469" y="42437"/>
                  <a:pt x="295660" y="49771"/>
                </a:cubicBezTo>
                <a:cubicBezTo>
                  <a:pt x="364885" y="66610"/>
                  <a:pt x="403214" y="32071"/>
                  <a:pt x="456941" y="65635"/>
                </a:cubicBezTo>
                <a:cubicBezTo>
                  <a:pt x="529612" y="69090"/>
                  <a:pt x="662508" y="71245"/>
                  <a:pt x="731691" y="70501"/>
                </a:cubicBezTo>
                <a:cubicBezTo>
                  <a:pt x="768741" y="62400"/>
                  <a:pt x="808263" y="64633"/>
                  <a:pt x="841820" y="61171"/>
                </a:cubicBezTo>
                <a:cubicBezTo>
                  <a:pt x="958973" y="43639"/>
                  <a:pt x="1009730" y="45863"/>
                  <a:pt x="1068219" y="39136"/>
                </a:cubicBezTo>
                <a:cubicBezTo>
                  <a:pt x="1104329" y="33447"/>
                  <a:pt x="1156536" y="44203"/>
                  <a:pt x="1174190" y="38808"/>
                </a:cubicBezTo>
                <a:cubicBezTo>
                  <a:pt x="1188943" y="36385"/>
                  <a:pt x="1213832" y="14880"/>
                  <a:pt x="1225923" y="34507"/>
                </a:cubicBezTo>
                <a:cubicBezTo>
                  <a:pt x="1305283" y="8501"/>
                  <a:pt x="1319617" y="30839"/>
                  <a:pt x="1385617" y="18003"/>
                </a:cubicBezTo>
                <a:cubicBezTo>
                  <a:pt x="1461876" y="-26747"/>
                  <a:pt x="1519510" y="56342"/>
                  <a:pt x="1563967" y="4638"/>
                </a:cubicBezTo>
                <a:lnTo>
                  <a:pt x="1676634" y="10582"/>
                </a:lnTo>
                <a:lnTo>
                  <a:pt x="1769429" y="20265"/>
                </a:lnTo>
                <a:cubicBezTo>
                  <a:pt x="1790625" y="23534"/>
                  <a:pt x="1880369" y="18448"/>
                  <a:pt x="1900584" y="27732"/>
                </a:cubicBezTo>
                <a:cubicBezTo>
                  <a:pt x="2072430" y="22762"/>
                  <a:pt x="2014935" y="5831"/>
                  <a:pt x="2127041" y="22101"/>
                </a:cubicBezTo>
                <a:cubicBezTo>
                  <a:pt x="2168847" y="65820"/>
                  <a:pt x="2153052" y="28773"/>
                  <a:pt x="2211644" y="44507"/>
                </a:cubicBezTo>
                <a:cubicBezTo>
                  <a:pt x="2211201" y="9921"/>
                  <a:pt x="2277596" y="73686"/>
                  <a:pt x="2299605" y="38004"/>
                </a:cubicBezTo>
                <a:cubicBezTo>
                  <a:pt x="2309570" y="41997"/>
                  <a:pt x="2318531" y="46991"/>
                  <a:pt x="2327359" y="52270"/>
                </a:cubicBezTo>
                <a:lnTo>
                  <a:pt x="2331995" y="55017"/>
                </a:lnTo>
                <a:lnTo>
                  <a:pt x="2353777" y="59755"/>
                </a:lnTo>
                <a:lnTo>
                  <a:pt x="2355893" y="68914"/>
                </a:lnTo>
                <a:lnTo>
                  <a:pt x="2385794" y="81650"/>
                </a:lnTo>
                <a:cubicBezTo>
                  <a:pt x="2397613" y="85211"/>
                  <a:pt x="2411061" y="87627"/>
                  <a:pt x="2427010" y="88184"/>
                </a:cubicBezTo>
                <a:cubicBezTo>
                  <a:pt x="2486314" y="76422"/>
                  <a:pt x="2553170" y="126870"/>
                  <a:pt x="2627153" y="110451"/>
                </a:cubicBezTo>
                <a:cubicBezTo>
                  <a:pt x="2653722" y="107383"/>
                  <a:pt x="2732043" y="116068"/>
                  <a:pt x="2744462" y="128780"/>
                </a:cubicBezTo>
                <a:cubicBezTo>
                  <a:pt x="2760299" y="132873"/>
                  <a:pt x="2780248" y="130843"/>
                  <a:pt x="2785202" y="143610"/>
                </a:cubicBezTo>
                <a:cubicBezTo>
                  <a:pt x="2794558" y="159316"/>
                  <a:pt x="2856498" y="142821"/>
                  <a:pt x="2844667" y="159029"/>
                </a:cubicBezTo>
                <a:cubicBezTo>
                  <a:pt x="2888530" y="147871"/>
                  <a:pt x="2914187" y="181391"/>
                  <a:pt x="2946649" y="192330"/>
                </a:cubicBezTo>
                <a:cubicBezTo>
                  <a:pt x="2981872" y="180417"/>
                  <a:pt x="3015239" y="215115"/>
                  <a:pt x="3088812" y="226485"/>
                </a:cubicBezTo>
                <a:cubicBezTo>
                  <a:pt x="3127734" y="212524"/>
                  <a:pt x="3138301" y="234381"/>
                  <a:pt x="3208669" y="217774"/>
                </a:cubicBezTo>
                <a:cubicBezTo>
                  <a:pt x="3242208" y="219284"/>
                  <a:pt x="3229623" y="233297"/>
                  <a:pt x="3290045" y="235553"/>
                </a:cubicBezTo>
                <a:cubicBezTo>
                  <a:pt x="3399655" y="215239"/>
                  <a:pt x="3444518" y="245862"/>
                  <a:pt x="3529335" y="249571"/>
                </a:cubicBezTo>
                <a:cubicBezTo>
                  <a:pt x="3623697" y="257405"/>
                  <a:pt x="3587652" y="268832"/>
                  <a:pt x="3716766" y="252690"/>
                </a:cubicBezTo>
                <a:cubicBezTo>
                  <a:pt x="3723469" y="267318"/>
                  <a:pt x="3737863" y="269842"/>
                  <a:pt x="3765333" y="266823"/>
                </a:cubicBezTo>
                <a:cubicBezTo>
                  <a:pt x="3810754" y="271601"/>
                  <a:pt x="3792745" y="303866"/>
                  <a:pt x="3846897" y="290090"/>
                </a:cubicBezTo>
                <a:cubicBezTo>
                  <a:pt x="3830941" y="306608"/>
                  <a:pt x="3929114" y="308026"/>
                  <a:pt x="3900217" y="323590"/>
                </a:cubicBezTo>
                <a:cubicBezTo>
                  <a:pt x="3922367" y="343425"/>
                  <a:pt x="3948574" y="318948"/>
                  <a:pt x="3971444" y="336662"/>
                </a:cubicBezTo>
                <a:cubicBezTo>
                  <a:pt x="4002781" y="344193"/>
                  <a:pt x="3960997" y="315419"/>
                  <a:pt x="3997868" y="318867"/>
                </a:cubicBezTo>
                <a:cubicBezTo>
                  <a:pt x="4041159" y="326219"/>
                  <a:pt x="4055435" y="293981"/>
                  <a:pt x="4070852" y="339615"/>
                </a:cubicBezTo>
                <a:cubicBezTo>
                  <a:pt x="4121286" y="335828"/>
                  <a:pt x="4121920" y="355506"/>
                  <a:pt x="4180483" y="373369"/>
                </a:cubicBezTo>
                <a:cubicBezTo>
                  <a:pt x="4211379" y="366707"/>
                  <a:pt x="4230171" y="374664"/>
                  <a:pt x="4246264" y="387458"/>
                </a:cubicBezTo>
                <a:cubicBezTo>
                  <a:pt x="4308508" y="393310"/>
                  <a:pt x="4357326" y="416142"/>
                  <a:pt x="4423169" y="431783"/>
                </a:cubicBezTo>
                <a:lnTo>
                  <a:pt x="4446752" y="435383"/>
                </a:lnTo>
                <a:lnTo>
                  <a:pt x="4446954" y="435566"/>
                </a:lnTo>
                <a:cubicBezTo>
                  <a:pt x="4508528" y="480137"/>
                  <a:pt x="4617740" y="529869"/>
                  <a:pt x="4662523" y="553169"/>
                </a:cubicBezTo>
                <a:cubicBezTo>
                  <a:pt x="4720320" y="547046"/>
                  <a:pt x="4678644" y="560102"/>
                  <a:pt x="4715641" y="575354"/>
                </a:cubicBezTo>
                <a:cubicBezTo>
                  <a:pt x="4682056" y="593278"/>
                  <a:pt x="4768370" y="586520"/>
                  <a:pt x="4742071" y="614016"/>
                </a:cubicBezTo>
                <a:cubicBezTo>
                  <a:pt x="4749637" y="615922"/>
                  <a:pt x="4757797" y="616899"/>
                  <a:pt x="4766183" y="617675"/>
                </a:cubicBezTo>
                <a:lnTo>
                  <a:pt x="4770562" y="618094"/>
                </a:lnTo>
                <a:lnTo>
                  <a:pt x="4783240" y="624350"/>
                </a:lnTo>
                <a:lnTo>
                  <a:pt x="4792882" y="620401"/>
                </a:lnTo>
                <a:lnTo>
                  <a:pt x="4816310" y="625721"/>
                </a:lnTo>
                <a:cubicBezTo>
                  <a:pt x="4824144" y="628595"/>
                  <a:pt x="4831482" y="632720"/>
                  <a:pt x="4837953" y="638824"/>
                </a:cubicBezTo>
                <a:cubicBezTo>
                  <a:pt x="4848645" y="668753"/>
                  <a:pt x="4922266" y="669148"/>
                  <a:pt x="4933914" y="707398"/>
                </a:cubicBezTo>
                <a:cubicBezTo>
                  <a:pt x="4940833" y="719653"/>
                  <a:pt x="4978358" y="746502"/>
                  <a:pt x="4995259" y="744825"/>
                </a:cubicBezTo>
                <a:cubicBezTo>
                  <a:pt x="5005107" y="749034"/>
                  <a:pt x="5010567" y="758092"/>
                  <a:pt x="5024744" y="753396"/>
                </a:cubicBezTo>
                <a:cubicBezTo>
                  <a:pt x="5047511" y="761361"/>
                  <a:pt x="5109162" y="783016"/>
                  <a:pt x="5131877" y="792613"/>
                </a:cubicBezTo>
                <a:cubicBezTo>
                  <a:pt x="5132671" y="802792"/>
                  <a:pt x="5144554" y="806683"/>
                  <a:pt x="5161031" y="810975"/>
                </a:cubicBezTo>
                <a:lnTo>
                  <a:pt x="5176815" y="815342"/>
                </a:lnTo>
                <a:lnTo>
                  <a:pt x="5180064" y="831233"/>
                </a:lnTo>
                <a:cubicBezTo>
                  <a:pt x="5202966" y="819270"/>
                  <a:pt x="5188976" y="863361"/>
                  <a:pt x="5215059" y="865080"/>
                </a:cubicBezTo>
                <a:cubicBezTo>
                  <a:pt x="5235765" y="864786"/>
                  <a:pt x="5236347" y="878098"/>
                  <a:pt x="5245643" y="887119"/>
                </a:cubicBezTo>
                <a:cubicBezTo>
                  <a:pt x="5267660" y="891609"/>
                  <a:pt x="5295742" y="939348"/>
                  <a:pt x="5295952" y="957174"/>
                </a:cubicBezTo>
                <a:cubicBezTo>
                  <a:pt x="5284322" y="1008946"/>
                  <a:pt x="5374979" y="1038019"/>
                  <a:pt x="5367826" y="1079140"/>
                </a:cubicBezTo>
                <a:cubicBezTo>
                  <a:pt x="5371668" y="1089190"/>
                  <a:pt x="5377921" y="1097135"/>
                  <a:pt x="5385646" y="1103730"/>
                </a:cubicBezTo>
                <a:lnTo>
                  <a:pt x="5410965" y="1119397"/>
                </a:lnTo>
                <a:lnTo>
                  <a:pt x="5436960" y="1130910"/>
                </a:lnTo>
                <a:lnTo>
                  <a:pt x="5442083" y="1133134"/>
                </a:lnTo>
                <a:cubicBezTo>
                  <a:pt x="5451910" y="1137346"/>
                  <a:pt x="5457170" y="1169188"/>
                  <a:pt x="5465219" y="1174479"/>
                </a:cubicBezTo>
                <a:cubicBezTo>
                  <a:pt x="5488744" y="1195184"/>
                  <a:pt x="5467141" y="1223401"/>
                  <a:pt x="5488171" y="1238604"/>
                </a:cubicBezTo>
                <a:cubicBezTo>
                  <a:pt x="5523491" y="1271811"/>
                  <a:pt x="5486623" y="1305961"/>
                  <a:pt x="5562172" y="1320840"/>
                </a:cubicBezTo>
                <a:cubicBezTo>
                  <a:pt x="5601634" y="1385316"/>
                  <a:pt x="5636528" y="1453139"/>
                  <a:pt x="5686905" y="1512529"/>
                </a:cubicBezTo>
                <a:cubicBezTo>
                  <a:pt x="5729049" y="1575678"/>
                  <a:pt x="5699691" y="1553768"/>
                  <a:pt x="5748726" y="1623716"/>
                </a:cubicBezTo>
                <a:cubicBezTo>
                  <a:pt x="5783098" y="1689734"/>
                  <a:pt x="5789710" y="1639740"/>
                  <a:pt x="5842593" y="1726595"/>
                </a:cubicBezTo>
                <a:cubicBezTo>
                  <a:pt x="5837824" y="1733043"/>
                  <a:pt x="5862023" y="1845188"/>
                  <a:pt x="5861042" y="1851837"/>
                </a:cubicBezTo>
                <a:cubicBezTo>
                  <a:pt x="5874156" y="1887981"/>
                  <a:pt x="5901790" y="1919218"/>
                  <a:pt x="5921290" y="1943460"/>
                </a:cubicBezTo>
                <a:lnTo>
                  <a:pt x="5978046" y="1997284"/>
                </a:lnTo>
                <a:lnTo>
                  <a:pt x="5992479" y="2056720"/>
                </a:lnTo>
                <a:cubicBezTo>
                  <a:pt x="6011078" y="2079033"/>
                  <a:pt x="6072687" y="2117397"/>
                  <a:pt x="6089639" y="2131171"/>
                </a:cubicBezTo>
                <a:lnTo>
                  <a:pt x="6094199" y="2139379"/>
                </a:lnTo>
                <a:lnTo>
                  <a:pt x="6094822" y="2139386"/>
                </a:lnTo>
                <a:cubicBezTo>
                  <a:pt x="6096947" y="2140841"/>
                  <a:pt x="6098876" y="2143416"/>
                  <a:pt x="6100692" y="2147736"/>
                </a:cubicBezTo>
                <a:lnTo>
                  <a:pt x="6102516" y="2154343"/>
                </a:lnTo>
                <a:lnTo>
                  <a:pt x="6111361" y="2170264"/>
                </a:lnTo>
                <a:lnTo>
                  <a:pt x="6215475" y="2270153"/>
                </a:lnTo>
                <a:lnTo>
                  <a:pt x="6255966" y="2335401"/>
                </a:lnTo>
                <a:lnTo>
                  <a:pt x="6272711" y="2385144"/>
                </a:lnTo>
                <a:cubicBezTo>
                  <a:pt x="6282320" y="2406495"/>
                  <a:pt x="6299066" y="2405139"/>
                  <a:pt x="6304347" y="2439388"/>
                </a:cubicBezTo>
                <a:cubicBezTo>
                  <a:pt x="6297131" y="2486231"/>
                  <a:pt x="6325530" y="2500962"/>
                  <a:pt x="6326729" y="2549400"/>
                </a:cubicBezTo>
                <a:cubicBezTo>
                  <a:pt x="6325926" y="2572066"/>
                  <a:pt x="6339111" y="2599957"/>
                  <a:pt x="6344663" y="2628839"/>
                </a:cubicBezTo>
                <a:lnTo>
                  <a:pt x="6375811" y="2639204"/>
                </a:lnTo>
                <a:cubicBezTo>
                  <a:pt x="6375427" y="2643533"/>
                  <a:pt x="6375041" y="2647863"/>
                  <a:pt x="6374657" y="2652193"/>
                </a:cubicBezTo>
                <a:cubicBezTo>
                  <a:pt x="6373555" y="2658134"/>
                  <a:pt x="6371943" y="2662665"/>
                  <a:pt x="6369740" y="2664642"/>
                </a:cubicBezTo>
                <a:cubicBezTo>
                  <a:pt x="6368032" y="2674540"/>
                  <a:pt x="6371528" y="2686899"/>
                  <a:pt x="6361964" y="2690172"/>
                </a:cubicBezTo>
                <a:cubicBezTo>
                  <a:pt x="6350507" y="2696218"/>
                  <a:pt x="6369375" y="2734440"/>
                  <a:pt x="6355511" y="2727335"/>
                </a:cubicBezTo>
                <a:cubicBezTo>
                  <a:pt x="6358746" y="2734104"/>
                  <a:pt x="6360434" y="2742096"/>
                  <a:pt x="6361058" y="2750592"/>
                </a:cubicBezTo>
                <a:cubicBezTo>
                  <a:pt x="6361013" y="2751998"/>
                  <a:pt x="6360970" y="2753408"/>
                  <a:pt x="6360926" y="2754814"/>
                </a:cubicBezTo>
                <a:lnTo>
                  <a:pt x="6339285" y="2810353"/>
                </a:lnTo>
                <a:cubicBezTo>
                  <a:pt x="6360091" y="2854187"/>
                  <a:pt x="6313103" y="2870086"/>
                  <a:pt x="6325672" y="2908809"/>
                </a:cubicBezTo>
                <a:cubicBezTo>
                  <a:pt x="6341563" y="2966972"/>
                  <a:pt x="6291836" y="2935388"/>
                  <a:pt x="6333498" y="3009772"/>
                </a:cubicBezTo>
                <a:cubicBezTo>
                  <a:pt x="6345476" y="3039254"/>
                  <a:pt x="6345955" y="3068963"/>
                  <a:pt x="6334947" y="3095405"/>
                </a:cubicBezTo>
                <a:lnTo>
                  <a:pt x="6344768" y="3155941"/>
                </a:lnTo>
                <a:cubicBezTo>
                  <a:pt x="6348643" y="3153663"/>
                  <a:pt x="6311793" y="3186588"/>
                  <a:pt x="6314754" y="3197987"/>
                </a:cubicBezTo>
                <a:cubicBezTo>
                  <a:pt x="6318695" y="3221971"/>
                  <a:pt x="6319257" y="3226752"/>
                  <a:pt x="6304230" y="3239690"/>
                </a:cubicBezTo>
                <a:cubicBezTo>
                  <a:pt x="6306321" y="3248567"/>
                  <a:pt x="6307305" y="3254005"/>
                  <a:pt x="6308837" y="3264003"/>
                </a:cubicBezTo>
                <a:cubicBezTo>
                  <a:pt x="6301812" y="3288243"/>
                  <a:pt x="6298529" y="3302527"/>
                  <a:pt x="6309285" y="3324103"/>
                </a:cubicBezTo>
                <a:cubicBezTo>
                  <a:pt x="6301188" y="3343007"/>
                  <a:pt x="6329285" y="3359307"/>
                  <a:pt x="6342503" y="3405661"/>
                </a:cubicBezTo>
                <a:cubicBezTo>
                  <a:pt x="6338012" y="3447477"/>
                  <a:pt x="6408325" y="3505721"/>
                  <a:pt x="6401531" y="3550593"/>
                </a:cubicBezTo>
                <a:cubicBezTo>
                  <a:pt x="6395655" y="3579549"/>
                  <a:pt x="6423437" y="3594758"/>
                  <a:pt x="6427705" y="3624684"/>
                </a:cubicBezTo>
                <a:cubicBezTo>
                  <a:pt x="6416402" y="3629199"/>
                  <a:pt x="6435787" y="3639516"/>
                  <a:pt x="6448424" y="3657106"/>
                </a:cubicBezTo>
                <a:lnTo>
                  <a:pt x="6444014" y="3752742"/>
                </a:lnTo>
                <a:cubicBezTo>
                  <a:pt x="6443990" y="3752777"/>
                  <a:pt x="6443967" y="3752813"/>
                  <a:pt x="6443946" y="3752849"/>
                </a:cubicBezTo>
                <a:lnTo>
                  <a:pt x="0" y="3752849"/>
                </a:ln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E69A80-F5C8-D7A6-F800-A58ED1888C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97004" y="670559"/>
            <a:ext cx="4555782" cy="5445076"/>
          </a:xfrm>
        </p:spPr>
        <p:txBody>
          <a:bodyPr anchor="t">
            <a:normAutofit/>
          </a:bodyPr>
          <a:lstStyle/>
          <a:p>
            <a:r>
              <a:rPr lang="en-US" sz="1400"/>
              <a:t>Huang, Gary B., et al. </a:t>
            </a:r>
            <a:r>
              <a:rPr lang="en-US" sz="1400" i="1"/>
              <a:t>Labeled Faces in the Wild: A Database for Studying Face Recognition in Unconstrained Environments.</a:t>
            </a:r>
            <a:r>
              <a:rPr lang="en-US" sz="1400"/>
              <a:t> University of Massachusetts, Amherst, 2007.</a:t>
            </a:r>
          </a:p>
          <a:p>
            <a:r>
              <a:rPr lang="en-US" sz="1400"/>
              <a:t>Cao, Qi, et al. “VGGFace2: A Dataset for Recognising Faces across Pose and Age.” </a:t>
            </a:r>
            <a:r>
              <a:rPr lang="en-US" sz="1400" i="1"/>
              <a:t>2018 13th IEEE International Conference on Automatic Face &amp; Gesture Recognition (FG)</a:t>
            </a:r>
            <a:r>
              <a:rPr lang="en-US" sz="1400"/>
              <a:t>, 2018.</a:t>
            </a:r>
          </a:p>
          <a:p>
            <a:r>
              <a:rPr lang="en-US" sz="1400"/>
              <a:t>Grgic, Mislav, et al. “SCface—Surveillance Cameras Face Database.” </a:t>
            </a:r>
            <a:r>
              <a:rPr lang="en-US" sz="1400" i="1"/>
              <a:t>Multimedia Tools and Applications</a:t>
            </a:r>
            <a:r>
              <a:rPr lang="en-US" sz="1400"/>
              <a:t>, vol. 51, no. 3, 2011, pp. 863–879.</a:t>
            </a:r>
          </a:p>
          <a:p>
            <a:r>
              <a:rPr lang="en-US" sz="1400"/>
              <a:t>Pedregosa, Fabian, et al. “Scikit-learn: Machine Learning in Python.” </a:t>
            </a:r>
            <a:r>
              <a:rPr lang="en-US" sz="1400" i="1"/>
              <a:t>Journal of Machine Learning Research</a:t>
            </a:r>
            <a:r>
              <a:rPr lang="en-US" sz="1400"/>
              <a:t>, vol. 12, 2011, pp. 2825–2830.</a:t>
            </a:r>
          </a:p>
          <a:p>
            <a:r>
              <a:rPr lang="en-US" sz="1400"/>
              <a:t>King, Davis E. “Dlib-ml: A Machine Learning Toolkit.” </a:t>
            </a:r>
            <a:r>
              <a:rPr lang="en-US" sz="1400" i="1"/>
              <a:t>Journal of Machine Learning Research</a:t>
            </a:r>
            <a:r>
              <a:rPr lang="en-US" sz="1400"/>
              <a:t>, vol. 10, 2009, pp. 1755–1758.</a:t>
            </a:r>
          </a:p>
          <a:p>
            <a:r>
              <a:rPr lang="en-US" sz="1400"/>
              <a:t>Bradski, Gary. “The OpenCV Library.” </a:t>
            </a:r>
            <a:r>
              <a:rPr lang="en-US" sz="1400" i="1"/>
              <a:t>Dr. Dobb’s Journal of Software Tools</a:t>
            </a:r>
            <a:r>
              <a:rPr lang="en-US" sz="1400"/>
              <a:t>, 2000.</a:t>
            </a:r>
          </a:p>
          <a:p>
            <a:endParaRPr lang="en-US" sz="1400"/>
          </a:p>
        </p:txBody>
      </p:sp>
    </p:spTree>
    <p:extLst>
      <p:ext uri="{BB962C8B-B14F-4D97-AF65-F5344CB8AC3E}">
        <p14:creationId xmlns:p14="http://schemas.microsoft.com/office/powerpoint/2010/main" val="32507215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1610</TotalTime>
  <Words>1035</Words>
  <Application>Microsoft Macintosh PowerPoint</Application>
  <PresentationFormat>Widescreen</PresentationFormat>
  <Paragraphs>126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Office Theme</vt:lpstr>
      <vt:lpstr>Facial Recognition &amp; Biometrics Using AI for Identification, Safety, and Investigation</vt:lpstr>
      <vt:lpstr>What is Facial Recognition?</vt:lpstr>
      <vt:lpstr>Different Approaches to Facial Recognition</vt:lpstr>
      <vt:lpstr>Police Use Cases of Facial Recognition</vt:lpstr>
      <vt:lpstr>Security Applications of AI Facial Detection</vt:lpstr>
      <vt:lpstr>Dataset</vt:lpstr>
      <vt:lpstr>Data Pre-Processing</vt:lpstr>
      <vt:lpstr>Data Pre-Processing</vt:lpstr>
      <vt:lpstr>The Model</vt:lpstr>
      <vt:lpstr>Model Training &amp; Fitting</vt:lpstr>
      <vt:lpstr>Output</vt:lpstr>
      <vt:lpstr>Issues Encountered</vt:lpstr>
      <vt:lpstr>Possible Solutions</vt:lpstr>
      <vt:lpstr>Citation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Ish Ishibashiheron</dc:creator>
  <cp:lastModifiedBy>Ish Ishibashiheron</cp:lastModifiedBy>
  <cp:revision>5</cp:revision>
  <dcterms:created xsi:type="dcterms:W3CDTF">2025-11-29T17:39:04Z</dcterms:created>
  <dcterms:modified xsi:type="dcterms:W3CDTF">2025-11-30T22:40:19Z</dcterms:modified>
</cp:coreProperties>
</file>